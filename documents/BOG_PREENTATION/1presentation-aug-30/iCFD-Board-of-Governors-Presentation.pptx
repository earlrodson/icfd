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opt/homebrew/var/www/iCFD/documents/BOG_PREENTATION/1presentation-aug-30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822960"/>
            <a:ext cx="1828800" cy="18288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0" y="283464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pPr algn="ctr" indent="0" marL="0">
              <a:buNone/>
            </a:pPr>
            <a:r>
              <a:rPr lang="en-US" sz="4000" b="1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</a:t>
            </a:r>
            <a:endParaRPr lang="en-US" sz="4000" dirty="0"/>
          </a:p>
        </p:txBody>
      </p:sp>
      <p:sp>
        <p:nvSpPr>
          <p:cNvPr id="4" name="Text 1"/>
          <p:cNvSpPr/>
          <p:nvPr/>
        </p:nvSpPr>
        <p:spPr>
          <a:xfrm>
            <a:off x="914400" y="36118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Digital Formation Platform for Catholic Faith Defenders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914400" y="448056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Presented by </a:t>
            </a:r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Earlrodson Cariño
</a:t>
            </a:r>
            <a:pPr algn="ctr" indent="0" marL="0">
              <a:buNone/>
            </a:pPr>
            <a:r>
              <a:rPr lang="en-US" sz="14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Software Architect / Engineering — Catholic Faith Defenders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Software Engineering to Catholic Apologetics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920240"/>
            <a:ext cx="105156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Almost 17 years in software engineering and architecture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Currently a Line Manager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Experience building software systems and platforms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Involved in CFD through a personal journey of rediscovering and defending the Catholic faith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JOURNEY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Did Not Begin as a Software Project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1097280" y="3383280"/>
            <a:ext cx="1773936" cy="822960"/>
          </a:xfrm>
          <a:prstGeom prst="roundRect">
            <a:avLst>
              <a:gd name="adj" fmla="val 888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3383280"/>
            <a:ext cx="17739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145536" y="3383280"/>
            <a:ext cx="1773936" cy="822960"/>
          </a:xfrm>
          <a:prstGeom prst="roundRect">
            <a:avLst>
              <a:gd name="adj" fmla="val 888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45536" y="3383280"/>
            <a:ext cx="17739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93792" y="3383280"/>
            <a:ext cx="1773936" cy="822960"/>
          </a:xfrm>
          <a:prstGeom prst="roundRect">
            <a:avLst>
              <a:gd name="adj" fmla="val 888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93792" y="3383280"/>
            <a:ext cx="17739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Apologetics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242048" y="3383280"/>
            <a:ext cx="1773936" cy="822960"/>
          </a:xfrm>
          <a:prstGeom prst="roundRect">
            <a:avLst>
              <a:gd name="adj" fmla="val 888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42048" y="3383280"/>
            <a:ext cx="17739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290304" y="3383280"/>
            <a:ext cx="1773936" cy="822960"/>
          </a:xfrm>
          <a:prstGeom prst="roundRect">
            <a:avLst>
              <a:gd name="adj" fmla="val 8889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3383280"/>
            <a:ext cx="1773936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Information Is There. The Connection Is Missing.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already a tremendous amount of Catholic information online: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53035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Bible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Catechism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Church documents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Apologetics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Theology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Church Fathers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Articles and discussions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2377440"/>
            <a:ext cx="45720" cy="155448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0" y="2377440"/>
            <a:ext cx="484632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do I start?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should I study next?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are these sources connected?</a:t>
            </a:r>
            <a:endParaRPr lang="en-US" sz="16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 I access them offline?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3949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information is often </a:t>
            </a:r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scattered across different sources.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WE ARE TRYING TO SOLVE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Five Problems iCFD Was Built to Address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0881360" cy="4389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Catholic teaching material is scattered across many disconnected sources — Bible, Catechism, Church documents, apologetics, theology, Church Fathers.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Members don't know where to start or what to study next — there is no guided path through the material.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 is no simple way to evaluate how well a member is actually learning — formation has no measurable feedback loop.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Educators and catechists lack a focused tool to guide members with good content — most teaching still depends on scattered personal effort.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material isn't always available offline or in the member's own language (Cebuano, Tagalog).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MOMENT ICFD STARTED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Started With 12 Questions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wife gave me a list of 12 topics she wanted to understand, and asked me to write explanations so she could study them.</a:t>
            </a: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endParaRPr lang="en-US" sz="16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Because Cebuano was difficult for her, I initially created the material in Tagalog and English.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3429000"/>
            <a:ext cx="45720" cy="82296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342900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"Why stop at 12 articles when I can build something that can become a library?"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43891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became the beginning of </a:t>
            </a:r>
            <a:pPr indent="0" marL="0">
              <a:buNone/>
            </a:pPr>
            <a:r>
              <a:rPr lang="en-US" sz="16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ARTICLES TO PLATFORM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 Grew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5029200" cy="411480"/>
          </a:xfrm>
          <a:prstGeom prst="roundRect">
            <a:avLst>
              <a:gd name="adj" fmla="val 17778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Questions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240280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404872"/>
            <a:ext cx="5029200" cy="411480"/>
          </a:xfrm>
          <a:prstGeom prst="roundRect">
            <a:avLst>
              <a:gd name="adj" fmla="val 17778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04872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Apologetics Articles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816352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980944"/>
            <a:ext cx="5029200" cy="411480"/>
          </a:xfrm>
          <a:prstGeom prst="roundRect">
            <a:avLst>
              <a:gd name="adj" fmla="val 17778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980944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Catholic Resources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392424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557016"/>
            <a:ext cx="5029200" cy="411480"/>
          </a:xfrm>
          <a:prstGeom prst="roundRect">
            <a:avLst>
              <a:gd name="adj" fmla="val 17778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557016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Paths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968496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133088"/>
            <a:ext cx="5029200" cy="411480"/>
          </a:xfrm>
          <a:prstGeom prst="roundRect">
            <a:avLst>
              <a:gd name="adj" fmla="val 17778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133088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 &amp; Progress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44568"/>
            <a:ext cx="50292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709160"/>
            <a:ext cx="5029200" cy="411480"/>
          </a:xfrm>
          <a:prstGeom prst="roundRect">
            <a:avLst>
              <a:gd name="adj" fmla="val 17778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70916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Platform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035040" y="2743200"/>
            <a:ext cx="5486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evolved from simply </a:t>
            </a:r>
            <a:pPr indent="0" marL="0">
              <a:buNone/>
            </a:pPr>
            <a:r>
              <a:rPr lang="en-US" sz="16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providing answers</a:t>
            </a:r>
            <a:pPr indent="0" marL="0">
              <a:buNone/>
            </a:pPr>
            <a:r>
              <a:rPr lang="en-US" sz="16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to helping Catholics </a:t>
            </a:r>
            <a:pPr indent="0" marL="0">
              <a:buNone/>
            </a:pPr>
            <a:r>
              <a:rPr lang="en-US" sz="16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learn, practice, and defend the faith.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Digital Apologetics and Formation Companion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377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Apologetics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743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Scripture · Catechism · Church Documents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297680" y="22860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2377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480560" y="2743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Church Fathers · theological terminology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2286000"/>
            <a:ext cx="3383280" cy="1188720"/>
          </a:xfrm>
          <a:prstGeom prst="roundRect">
            <a:avLst>
              <a:gd name="adj" fmla="val 615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2377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138160" y="2743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learning · quizzes · certificates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" y="3931920"/>
            <a:ext cx="45720" cy="82296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931920"/>
            <a:ext cx="9875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Catholic formation easier to access, easier to study, easier to connect, and easier to continue.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Me Show You iCFD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2926080"/>
            <a:ext cx="158496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2926080"/>
            <a:ext cx="158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499360" y="2926080"/>
            <a:ext cx="158496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99360" y="2926080"/>
            <a:ext cx="158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58640" y="2926080"/>
            <a:ext cx="158496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58640" y="2926080"/>
            <a:ext cx="158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2926080"/>
            <a:ext cx="158496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217920" y="2926080"/>
            <a:ext cx="158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77200" y="2926080"/>
            <a:ext cx="158496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77200" y="2926080"/>
            <a:ext cx="158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936480" y="2926080"/>
            <a:ext cx="1584960" cy="548640"/>
          </a:xfrm>
          <a:prstGeom prst="roundRect">
            <a:avLst>
              <a:gd name="adj" fmla="val 13333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936480" y="2926080"/>
            <a:ext cx="1584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84048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presenter will switch to the live application.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CONNECTED KNOWLEDGE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Question, Many Connections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7373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7373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Apologetics Question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084832"/>
            <a:ext cx="5029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1945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1945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Answer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2542032"/>
            <a:ext cx="5029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6517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651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Scripture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2999232"/>
            <a:ext cx="5029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1089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1089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Catechism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3456432"/>
            <a:ext cx="5029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35661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5661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Church Fathers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913632"/>
            <a:ext cx="5029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40080" y="40233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0233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Church Documents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370832"/>
            <a:ext cx="5029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640080" y="44805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4805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Theological Terms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4828032"/>
            <a:ext cx="5029200" cy="1097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40080" y="4937760"/>
            <a:ext cx="5029200" cy="347472"/>
          </a:xfrm>
          <a:prstGeom prst="roundRect">
            <a:avLst>
              <a:gd name="adj" fmla="val 21053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937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Related Topics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6126480"/>
            <a:ext cx="3877056" cy="292608"/>
          </a:xfrm>
          <a:prstGeom prst="roundRect">
            <a:avLst>
              <a:gd name="adj" fmla="val 50000"/>
            </a:avLst>
          </a:prstGeom>
          <a:solidFill>
            <a:srgbClr val="E7F3E8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6126480"/>
            <a:ext cx="387705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7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— screenshot follows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APPLICATION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Topic Page — in Cebuano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pic>
        <p:nvPicPr>
          <p:cNvPr id="5" name="Image 0" descr="/opt/homebrew/var/www/iCFD/documents/BOG_PREENTATION/1presentation-aug-30/assets/screenshots/topic-detai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691640"/>
            <a:ext cx="7772400" cy="4572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10a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 FIRST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Formation Should Not Depend on Internet Access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6035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is built as a Progressive Web App (PWA) with real offline capability — service worker caching, installable icon set, offline content access.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60350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content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Disable internet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previously downloaded content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Continue reading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5212080"/>
            <a:ext cx="1572768" cy="292608"/>
          </a:xfrm>
          <a:prstGeom prst="roundRect">
            <a:avLst>
              <a:gd name="adj" fmla="val 50000"/>
            </a:avLst>
          </a:prstGeom>
          <a:solidFill>
            <a:srgbClr val="E7F3E8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521208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7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1000" dirty="0"/>
          </a:p>
        </p:txBody>
      </p:sp>
      <p:pic>
        <p:nvPicPr>
          <p:cNvPr id="10" name="Image 0" descr="/opt/homebrew/var/www/iCFD/documents/BOG_PREENTATION/1presentation-aug-30/assets/screenshots/topic-mob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0" y="1737360"/>
            <a:ext cx="3291840" cy="45720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READING TO LEARNING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Is Not the Same as Formation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Paths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 progression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completion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Passing thresholds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tracking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3840480"/>
            <a:ext cx="158496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840480"/>
            <a:ext cx="158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499360" y="3840480"/>
            <a:ext cx="158496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99360" y="3840480"/>
            <a:ext cx="158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58640" y="3840480"/>
            <a:ext cx="158496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8640" y="3840480"/>
            <a:ext cx="158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3840480"/>
            <a:ext cx="158496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7920" y="3840480"/>
            <a:ext cx="158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77200" y="3840480"/>
            <a:ext cx="158496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77200" y="3840480"/>
            <a:ext cx="158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936480" y="3840480"/>
            <a:ext cx="1584960" cy="502920"/>
          </a:xfrm>
          <a:prstGeom prst="roundRect">
            <a:avLst>
              <a:gd name="adj" fmla="val 14545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936480" y="3840480"/>
            <a:ext cx="158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663440"/>
            <a:ext cx="7607808" cy="292608"/>
          </a:xfrm>
          <a:prstGeom prst="roundRect">
            <a:avLst>
              <a:gd name="adj" fmla="val 50000"/>
            </a:avLst>
          </a:prstGeom>
          <a:solidFill>
            <a:srgbClr val="E7F3E8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663440"/>
            <a:ext cx="76078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7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 end-to-end — quiz completion auto-issues a certificate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FORMATION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Bringing CFD Formation Into a Digital Experience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CFD Layman's Biblical Theology and Apologetics Course provides a structured formation framework with 20 themes/topics.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51760"/>
            <a:ext cx="2926080" cy="365760"/>
          </a:xfrm>
          <a:prstGeom prst="roundRect">
            <a:avLst>
              <a:gd name="adj" fmla="val 20000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65176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Course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3017520"/>
            <a:ext cx="29260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145536"/>
            <a:ext cx="2926080" cy="365760"/>
          </a:xfrm>
          <a:prstGeom prst="roundRect">
            <a:avLst>
              <a:gd name="adj" fmla="val 20000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3145536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0080" y="3511296"/>
            <a:ext cx="29260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0080" y="3639312"/>
            <a:ext cx="2926080" cy="365760"/>
          </a:xfrm>
          <a:prstGeom prst="roundRect">
            <a:avLst>
              <a:gd name="adj" fmla="val 20000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63931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Material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4005072"/>
            <a:ext cx="29260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4133088"/>
            <a:ext cx="2926080" cy="365760"/>
          </a:xfrm>
          <a:prstGeom prst="roundRect">
            <a:avLst>
              <a:gd name="adj" fmla="val 20000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" y="4133088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4498848"/>
            <a:ext cx="292608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640080" y="4626864"/>
            <a:ext cx="2926080" cy="365760"/>
          </a:xfrm>
          <a:prstGeom prst="roundRect">
            <a:avLst>
              <a:gd name="adj" fmla="val 20000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4626864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5120640"/>
            <a:ext cx="5852160" cy="731520"/>
          </a:xfrm>
          <a:prstGeom prst="roundRect">
            <a:avLst>
              <a:gd name="adj" fmla="val 7500"/>
            </a:avLst>
          </a:prstGeom>
          <a:solidFill>
            <a:srgbClr val="FFF4D6"/>
          </a:solidFill>
          <a:ln w="12700">
            <a:solidFill>
              <a:srgbClr val="F2D2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77240" y="5166360"/>
            <a:ext cx="5577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54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complete question bank is still being developed. This course is live in the product, but not every topic yet has a full quiz bank.</a:t>
            </a:r>
            <a:endParaRPr lang="en-US" sz="1100" dirty="0"/>
          </a:p>
        </p:txBody>
      </p:sp>
      <p:pic>
        <p:nvPicPr>
          <p:cNvPr id="22" name="Image 0" descr="/opt/homebrew/var/www/iCFD/documents/BOG_PREENTATION/1presentation-aug-30/assets/screenshots/path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783080"/>
            <a:ext cx="4846320" cy="2926080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CATHOLIC REFERENCE LIBRARY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Central Place to Find the Sources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Holy Bible — NABRE &amp; Douay-Rheims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Catechism of the Catholic Church — 2,865 paragraphs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Church documents — Vatican II constitutions &amp; encyclicals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Instruction of the Roman Missal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of Canon Law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Church Fathers &amp; apologetics topics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4709160"/>
            <a:ext cx="45720" cy="64008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70916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 is to connect sources to the topics being studied.</a:t>
            </a:r>
            <a:endParaRPr lang="en-US" sz="1400" dirty="0"/>
          </a:p>
        </p:txBody>
      </p:sp>
      <p:pic>
        <p:nvPicPr>
          <p:cNvPr id="8" name="Image 0" descr="/opt/homebrew/var/www/iCFD/documents/BOG_PREENTATION/1presentation-aug-30/assets/screenshots/libr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0" y="1783080"/>
            <a:ext cx="4846320" cy="3657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THEOLOGICAL ETYMOLOGY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Sometimes the Meaning Is in the Word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92024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299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ekklesia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24231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Greek → assembly, called-out ones → "Church"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92024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20299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latria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480560" y="24231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Worship due to God alone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92024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20299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dulia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8138160" y="242316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Veneration given to saints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9300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Theotokos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"God-bearer" — title of Mary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3383280"/>
            <a:ext cx="3383280" cy="1234440"/>
          </a:xfrm>
          <a:prstGeom prst="roundRect">
            <a:avLst>
              <a:gd name="adj" fmla="val 5926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49300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kecharitomene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480560" y="388620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"Full of grace" — Luke 1:28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120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objective is to help the defender understand terminology behind theological arguments — not merely memorize conclusions.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RESOURCES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Personal Study to CFD Formation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members &amp; formation materials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 &amp; apologetics resources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paths &amp; certificates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progress &amp; administrative content management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365760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6576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study tool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34840" y="3657600"/>
            <a:ext cx="3520440" cy="548640"/>
          </a:xfrm>
          <a:prstGeom prst="roundRect">
            <a:avLst>
              <a:gd name="adj" fmla="val 13333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34840" y="365760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formation infrastructure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480560"/>
            <a:ext cx="10789920" cy="292608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4480560"/>
            <a:ext cx="10789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Partially implemented — foundations built, org-wide rollout is a direction, not a current state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ADMINISTRATION &amp; ANALYTICS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We Care About Formation, We Need Visibility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8521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 management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Topic &amp; reference management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Learning paths &amp; quiz management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&amp; learning analytics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343400"/>
            <a:ext cx="1572768" cy="292608"/>
          </a:xfrm>
          <a:prstGeom prst="roundRect">
            <a:avLst>
              <a:gd name="adj" fmla="val 50000"/>
            </a:avLst>
          </a:prstGeom>
          <a:solidFill>
            <a:srgbClr val="E7F3E8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4343400"/>
            <a:ext cx="15727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E7A3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50008" y="4343400"/>
            <a:ext cx="5413248" cy="292608"/>
          </a:xfrm>
          <a:prstGeom prst="roundRect">
            <a:avLst>
              <a:gd name="adj" fmla="val 50000"/>
            </a:avLst>
          </a:prstGeom>
          <a:solidFill>
            <a:srgbClr val="FFF4D6"/>
          </a:solidFill>
          <a:ln/>
        </p:spPr>
      </p:sp>
      <p:sp>
        <p:nvSpPr>
          <p:cNvPr id="9" name="Text 7"/>
          <p:cNvSpPr/>
          <p:nvPr/>
        </p:nvSpPr>
        <p:spPr>
          <a:xfrm>
            <a:off x="2350008" y="4343400"/>
            <a:ext cx="54132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A63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Geo-analytics dashboard: in active development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75120" y="1920240"/>
            <a:ext cx="45720" cy="109728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11" name="Text 9"/>
          <p:cNvSpPr/>
          <p:nvPr/>
        </p:nvSpPr>
        <p:spPr>
          <a:xfrm>
            <a:off x="6858000" y="1920240"/>
            <a:ext cx="4754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are members studying? Which topics are being completed? Where are learners struggling? Which materials are actually being used?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objective is formation insight, not surveillance.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iCFD Works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(web + installed PWA)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7744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56032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6032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Web App — Next.js, hosted on Vercel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310896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2918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 — API routes on the same platform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840480"/>
            <a:ext cx="7772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7772400" cy="548640"/>
          </a:xfrm>
          <a:prstGeom prst="roundRect">
            <a:avLst>
              <a:gd name="adj" fmla="val 13333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0233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 — Database, Authentication, Storage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domains stored in the database: Topics · Bible · Catechism · Canon Law · GIRM · Church Documents · Church Fathers · Learning Paths · Quizzes · Certificates · Users · Analytics.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Designed to Start Small and Scale With Evidence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828800"/>
            <a:ext cx="1051560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Cloud-hosted, managed infrastructure — no servers to maintain ourselves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Progressive Web App — one codebase, works on any device, installable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Centralized database with authentication and file storage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Offline-capable client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that scales up only when usage requires it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572000"/>
            <a:ext cx="45720" cy="64008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57200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pay for capacity we do not yet need.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INFRASTRUCTURE COST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It Cost Today?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28800"/>
          <a:ext cx="108813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48056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Current Plan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Cost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82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Vercel (hosting)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tier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₱0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Supabase (database, auth, storage)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Free tier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₱0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[INSERT CURRENT DOMAIN COST]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[INSERT ₱/year]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Other services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[INSERT IF ANY]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[INSERT ₱]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recurring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[INSERT ₱X]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40080" y="5029200"/>
            <a:ext cx="45720" cy="54864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5029200"/>
            <a:ext cx="10241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current deployment intentionally operates within free-tier infrastructure, appropriate for the current pilot and user base.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DO WE UPGRADE?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Upgrade Based on Usage — Not the Calendar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3852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" y="23317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Database/storage limits · Bandwidth · Function limits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182880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80560" y="193852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480560" y="23317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Growing users · Concurrent usage · Increasing traffic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955280" y="182880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93852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Reliability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38160" y="233172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Backup requirements · Monitoring · Availability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32918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015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growth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7947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content library · Advanced analytics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0" y="3291840"/>
            <a:ext cx="3383280" cy="1280160"/>
          </a:xfrm>
          <a:prstGeom prst="roundRect">
            <a:avLst>
              <a:gd name="adj" fmla="val 5714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80560" y="3401568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80560" y="3794760"/>
            <a:ext cx="30175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Additional organizational features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3035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when the evidence says we need to scale.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COST MODEL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Scaling the Platform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1 — CURRENT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22960" y="221284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651760"/>
            <a:ext cx="3108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Free/low-cost infrastructure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 concept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content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 adoption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26280" y="221284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Davao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26280" y="2651760"/>
            <a:ext cx="3108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users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content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learning activity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Paid infrastructure where required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3474720" cy="3931920"/>
          </a:xfrm>
          <a:prstGeom prst="roundRect">
            <a:avLst>
              <a:gd name="adj" fmla="val 210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0" y="2212848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Organization-Wide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0" y="2651760"/>
            <a:ext cx="31089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user base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reliability requirements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advanced administration</a:t>
            </a:r>
            <a:endParaRPr lang="en-US" sz="11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1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Infrastructure becomes an organizational investment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iCFD Goes From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828800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28800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 — Digital Library + Apologetics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2496312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496312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Learning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999232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3163824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163824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Quizzes + Certification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666744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0080" y="3831336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3831336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Chapter Formation Support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334256"/>
            <a:ext cx="7772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F2D2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40080" y="4498848"/>
            <a:ext cx="7772400" cy="502920"/>
          </a:xfrm>
          <a:prstGeom prst="roundRect">
            <a:avLst>
              <a:gd name="adj" fmla="val 14545"/>
            </a:avLst>
          </a:prstGeom>
          <a:solidFill>
            <a:srgbClr val="10182F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4498848"/>
            <a:ext cx="7772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Organization-Wide Formation Platform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below "Today" is described as a planned direction, not an existing feature.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9144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557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ICFD IS NOT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1556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Does Not Replace the Church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02920" cy="54864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does not replace: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240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Priests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224028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2240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Catechists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7955280" y="224028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0" y="224028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CFD leaders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306324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30632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formation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297680" y="306324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30632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Parish communities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955280" y="3063240"/>
            <a:ext cx="3383280" cy="640080"/>
          </a:xfrm>
          <a:prstGeom prst="roundRect">
            <a:avLst>
              <a:gd name="adj" fmla="val 11429"/>
            </a:avLst>
          </a:prstGeom>
          <a:solidFill>
            <a:srgbClr val="F7F8FB"/>
          </a:solidFill>
          <a:ln w="12700">
            <a:solidFill>
              <a:srgbClr val="E4E7E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0" y="3063240"/>
            <a:ext cx="33832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Magisterium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114800"/>
            <a:ext cx="45720" cy="54864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19" name="Text 17"/>
          <p:cNvSpPr/>
          <p:nvPr/>
        </p:nvSpPr>
        <p:spPr>
          <a:xfrm>
            <a:off x="822960" y="411480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018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 should serve formation — not replace it.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4846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F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is a tool for formation and access to Catholic resources. It does not replace the teaching authority of the Church or formation provided by priests, catechists, and CFD leaders.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018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1036015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Tool to Support Our Educators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463040" y="2468880"/>
            <a:ext cx="45720" cy="1554480"/>
          </a:xfrm>
          <a:prstGeom prst="rect">
            <a:avLst/>
          </a:prstGeom>
          <a:solidFill>
            <a:srgbClr val="F2D21F"/>
          </a:solidFill>
          <a:ln/>
        </p:spPr>
      </p:sp>
      <p:sp>
        <p:nvSpPr>
          <p:cNvPr id="4" name="Text 2"/>
          <p:cNvSpPr/>
          <p:nvPr/>
        </p:nvSpPr>
        <p:spPr>
          <a:xfrm>
            <a:off x="1691640" y="2468880"/>
            <a:ext cx="87782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E7E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gives our educators a focused way to bring good, guided content to CFD members — a new way of teaching, not a replacement for it.
</a:t>
            </a:r>
            <a:pPr indent="0" marL="0">
              <a:lnSpc>
                <a:spcPts val="2000"/>
              </a:lnSpc>
              <a:buNone/>
            </a:pPr>
            <a:r>
              <a:rPr lang="en-US" sz="1500" i="1" dirty="0">
                <a:solidFill>
                  <a:srgbClr val="E7E9F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also gives us something we've never had: a simple, data-driven way to see how well members are actually learning.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984248" y="43891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would now like to open the floor for questions, recommendations, and guidance from the Board."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iCFD · Board of Governors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9D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2026-08-30T07:55:37Z</dcterms:created>
  <dcterms:modified xsi:type="dcterms:W3CDTF">2026-08-30T07:55:37Z</dcterms:modified>
</cp:coreProperties>
</file>