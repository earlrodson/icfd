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opt/homebrew/var/www/iCFD/documents/BOG_PREENTATION/1presentation-aug-30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82296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8346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4000" b="1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Formation Platform for Catholic Faith Defenders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44805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Earlrodson Cariño
</a:t>
            </a:r>
            <a:pPr algn="ctr" indent="0" marL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Software Architect / Engineering — Catholic Faith Defenders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Software Engineering to Catholic Apologetics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17 years in software engineering and architecture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a Line Manager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building software systems and platforms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Involved in CFD through a personal journey of rediscovering and defending the Catholic faith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Did Not Begin as a Software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3383280"/>
            <a:ext cx="1773936" cy="822960"/>
          </a:xfrm>
          <a:prstGeom prst="roundRect">
            <a:avLst>
              <a:gd name="adj" fmla="val 888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38328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45536" y="3383280"/>
            <a:ext cx="1773936" cy="822960"/>
          </a:xfrm>
          <a:prstGeom prst="roundRect">
            <a:avLst>
              <a:gd name="adj" fmla="val 888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536" y="338328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93792" y="3383280"/>
            <a:ext cx="1773936" cy="822960"/>
          </a:xfrm>
          <a:prstGeom prst="roundRect">
            <a:avLst>
              <a:gd name="adj" fmla="val 888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338328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Apologetics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42048" y="3383280"/>
            <a:ext cx="1773936" cy="822960"/>
          </a:xfrm>
          <a:prstGeom prst="roundRect">
            <a:avLst>
              <a:gd name="adj" fmla="val 888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42048" y="338328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90304" y="3383280"/>
            <a:ext cx="1773936" cy="822960"/>
          </a:xfrm>
          <a:prstGeom prst="roundRect">
            <a:avLst>
              <a:gd name="adj" fmla="val 8889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0304" y="338328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Is There. The Connection Is Missing.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already a tremendous amount of Catholic information online: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Catechism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documents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Apologetics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Theology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Fathers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and discussions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377440"/>
            <a:ext cx="45720" cy="155448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3774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I start?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I study next?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these sources connected?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access them offline?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information is often </a:t>
            </a:r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across different sources.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Are Trying to Solve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984248" y="3566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7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video file exists in the repository as of this build. If a problem video has been produced outside the codebase, insert it here full-screen; otherwise narrate this transition live.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ICFD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Started With 12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wife gave me a list of 12 topics she wanted to understand, and asked me to write explanations so she could study them.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Cebuano was difficult for her, I initially created the material in Tagalog and English.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45720" cy="82296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stop at 12 articles when I can build something that can become a library?"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became the beginning of </a:t>
            </a:r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ARTICLES TO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 Grew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5029200" cy="411480"/>
          </a:xfrm>
          <a:prstGeom prst="roundRect">
            <a:avLst>
              <a:gd name="adj" fmla="val 17778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Questions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5029200" cy="411480"/>
          </a:xfrm>
          <a:prstGeom prst="roundRect">
            <a:avLst>
              <a:gd name="adj" fmla="val 17778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048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Apologetics Articles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5029200" cy="411480"/>
          </a:xfrm>
          <a:prstGeom prst="roundRect">
            <a:avLst>
              <a:gd name="adj" fmla="val 17778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809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Catholic Resources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9242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5029200" cy="411480"/>
          </a:xfrm>
          <a:prstGeom prst="roundRect">
            <a:avLst>
              <a:gd name="adj" fmla="val 17778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5701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6849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133088"/>
            <a:ext cx="5029200" cy="411480"/>
          </a:xfrm>
          <a:prstGeom prst="roundRect">
            <a:avLst>
              <a:gd name="adj" fmla="val 17778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330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 &amp; Progress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445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5029200" cy="411480"/>
          </a:xfrm>
          <a:prstGeom prst="roundRect">
            <a:avLst>
              <a:gd name="adj" fmla="val 17778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09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Platform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27432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evolved from simply </a:t>
            </a:r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answers</a:t>
            </a:r>
            <a:pPr indent="0" marL="0">
              <a:buNone/>
            </a:pPr>
            <a:r>
              <a:rPr lang="en-US" sz="16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helping Catholics </a:t>
            </a:r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learn, practice, and defend the faith.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Apologetics and Formation Companion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Apologetics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Scripture · Catechism · Church Documents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743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Fathers · theological terminology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743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learning · quizzes · certificates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45720" cy="82296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31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Catholic formation easier to access, easier to study, easier to connect, and easier to continue.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Show You iCFD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926080"/>
            <a:ext cx="158496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926080"/>
            <a:ext cx="158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99360" y="2926080"/>
            <a:ext cx="158496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99360" y="2926080"/>
            <a:ext cx="158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8640" y="2926080"/>
            <a:ext cx="158496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58640" y="2926080"/>
            <a:ext cx="158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926080"/>
            <a:ext cx="158496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926080"/>
            <a:ext cx="158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77200" y="2926080"/>
            <a:ext cx="158496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7200" y="2926080"/>
            <a:ext cx="158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36480" y="2926080"/>
            <a:ext cx="1584960" cy="548640"/>
          </a:xfrm>
          <a:prstGeom prst="roundRect">
            <a:avLst>
              <a:gd name="adj" fmla="val 13333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36480" y="2926080"/>
            <a:ext cx="158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presenter will switch to the live application.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KNOWLEDGE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Question, Many Connections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Apologetics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089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Catechism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56432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Fathers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913632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23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Documents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370832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48056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80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Theological Terms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828032"/>
            <a:ext cx="5029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493776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937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Topics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6126480"/>
            <a:ext cx="3877056" cy="292608"/>
          </a:xfrm>
          <a:prstGeom prst="roundRect">
            <a:avLst>
              <a:gd name="adj" fmla="val 50000"/>
            </a:avLst>
          </a:prstGeom>
          <a:solidFill>
            <a:srgbClr val="E7F3E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612648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— screenshot follows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Topic Page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pic>
        <p:nvPicPr>
          <p:cNvPr id="5" name="Image 0" descr="/opt/homebrew/var/www/iCFD/documents/BOG_PREENTATION/1presentation-aug-30/assets/screenshots/topic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1691640"/>
            <a:ext cx="77724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Should Not Depend on Internet Access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is built as a Progressive Web App (PWA) with real offline capability — service worker caching, installable icon set, offline content access.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content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internet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previously downloaded content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reading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E7F3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21208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000" dirty="0"/>
          </a:p>
        </p:txBody>
      </p:sp>
      <p:pic>
        <p:nvPicPr>
          <p:cNvPr id="10" name="Image 0" descr="/opt/homebrew/var/www/iCFD/documents/BOG_PREENTATION/1presentation-aug-30/assets/screenshots/topic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737360"/>
            <a:ext cx="329184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READING TO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Is Not the Same as 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progression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completion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thresholds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0"/>
            <a:ext cx="158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99360" y="38404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9360" y="3840480"/>
            <a:ext cx="158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8640" y="38404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8640" y="3840480"/>
            <a:ext cx="158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840480"/>
            <a:ext cx="158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77200" y="38404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7200" y="3840480"/>
            <a:ext cx="158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36480" y="3840480"/>
            <a:ext cx="1584960" cy="502920"/>
          </a:xfrm>
          <a:prstGeom prst="roundRect">
            <a:avLst>
              <a:gd name="adj" fmla="val 14545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36480" y="3840480"/>
            <a:ext cx="158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7607808" cy="292608"/>
          </a:xfrm>
          <a:prstGeom prst="roundRect">
            <a:avLst>
              <a:gd name="adj" fmla="val 50000"/>
            </a:avLst>
          </a:prstGeom>
          <a:solidFill>
            <a:srgbClr val="E7F3E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63440"/>
            <a:ext cx="7607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end-to-end — quiz completion auto-issues a certificate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CFD Formation Into a Digital Experience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CFD Layman's Biblical Theology and Apologetics Course provides a structured formation framework with 20 themes/topics.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45536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45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11296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639312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39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Material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05072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33088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330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498848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268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5852160" cy="731520"/>
          </a:xfrm>
          <a:prstGeom prst="roundRect">
            <a:avLst>
              <a:gd name="adj" fmla="val 7500"/>
            </a:avLst>
          </a:prstGeom>
          <a:solidFill>
            <a:srgbClr val="FFF4D6"/>
          </a:solidFill>
          <a:ln w="12700">
            <a:solidFill>
              <a:srgbClr val="F2D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663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question bank is still being developed. This course is live in the product, but not every topic yet has a full quiz bank.</a:t>
            </a:r>
            <a:endParaRPr lang="en-US" sz="1100" dirty="0"/>
          </a:p>
        </p:txBody>
      </p:sp>
      <p:pic>
        <p:nvPicPr>
          <p:cNvPr id="22" name="Image 0" descr="/opt/homebrew/var/www/iCFD/documents/BOG_PREENTATION/1presentation-aug-30/assets/screenshots/path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783080"/>
            <a:ext cx="4846320" cy="29260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CATHOLIC REFERENCE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 Place to Find the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Holy Bible — NABRE &amp; Douay-Rheims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Catechism of the Catholic Church — 2,865 paragraphs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documents — Vatican II constitutions &amp; encyclicals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Instruction of the Roman Missal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of Canon Law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Fathers &amp; apologetics topics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45720" cy="64008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09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to connect sources to the topics being studied.</a:t>
            </a:r>
            <a:endParaRPr lang="en-US" sz="1400" dirty="0"/>
          </a:p>
        </p:txBody>
      </p:sp>
      <p:pic>
        <p:nvPicPr>
          <p:cNvPr id="8" name="Image 0" descr="/opt/homebrew/var/www/iCFD/documents/BOG_PREENTATION/1presentation-aug-30/assets/screenshots/libr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783080"/>
            <a:ext cx="484632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THEOLOGICAL ETYMOLOGY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Sometimes the Meaning Is in the Word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ekklesia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Greek → assembly, called-out ones → "Church"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029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23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 due to God alone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920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029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38160" y="2423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Veneration given to saints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930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Theotokos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"God-bearer" — title of Mary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33832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4930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kecharitomene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"Full of grace" — Luke 1:28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to help the defender understand terminology behind theological arguments — not merely memorize conclusions.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Personal Study to CFD 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members &amp; formation materials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&amp; apologetics resources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paths &amp; certificates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progress &amp; administrative content management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study tool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65760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36576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formation infrastructure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10789920" cy="29260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8056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implemented — foundations built, org-wide rollout is a direction, not a current state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&amp;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Care About Formation, We Need Visibility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&amp; reference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paths &amp; quiz management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&amp; learning analytics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E7F3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343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50008" y="4343400"/>
            <a:ext cx="5413248" cy="29260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9" name="Text 7"/>
          <p:cNvSpPr/>
          <p:nvPr/>
        </p:nvSpPr>
        <p:spPr>
          <a:xfrm>
            <a:off x="2350008" y="4343400"/>
            <a:ext cx="5413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Geo-analytics dashboard: in active development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1920240"/>
            <a:ext cx="45720" cy="109728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920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members studying? Which topics are being completed? Where are learners struggling? Which materials are actually being used?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formation insight, not surveillance.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iCFD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(web + installed PWA)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Web App — Next.js, hosted on Vercel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API routes on the same platform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23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— Database, Authentication, Storage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domains stored in the database: Topics · Bible · Catechism · Canon Law · GIRM · Church Documents · Church Fathers · Learning Paths · Quizzes · Certificates · Users · Analytics.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Start Small and Scale With Evidence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Cloud-hosted, managed infrastructure — no servers to maintain ourselves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— one codebase, works on any device, installable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database with authentication and file storage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Offline-capable client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that scales up only when usage requires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45720" cy="64008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pay for capacity we do not yet need.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INFRASTRUCTURE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Cost Today?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4805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(hosting)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₱0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(database, auth, storage)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₱0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CURRENT DOMAIN COST]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₱/year]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services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IF ANY]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₱]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recurring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₱X]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29200"/>
            <a:ext cx="45720" cy="54864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029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deployment intentionally operates within free-tier infrastructure, appropriate for the current pilot and user base.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WE UPGRADE?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Upgrade Based on Usage — Not the Calendar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Database/storage limits · Bandwidth · Function limits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3317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users · Concurrent usage · Increasing traffic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23317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requirements · Monitoring · Availability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01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growth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content library · Advanced analytics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32918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401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37947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organizational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303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when the evidence says we need to scale.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COST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the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CURRENT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Free/low-cost infrastructure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concept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content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adoption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2212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Davao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content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learning activity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infrastructure where 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212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Organization-Wide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user base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reliability requirements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advanced administration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becomes an organizational investment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iCFD Goes From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Digital Library + Apologetics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9631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Learning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6382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 + Certification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66674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3133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Chapter Formation Support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33425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2D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498848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10182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988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Organization-Wide Formation Platform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below "Today" is described as a planned direction, not an existing feature.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ICFD IS NOT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Does Not Replace the Church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" cy="54864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replace: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Priests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2402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240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Catechists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224028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240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leaders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formation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0632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Parish communities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306324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7F8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Magisterium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45720" cy="54864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1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should serve formation — not replace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is a tool for formation and access to Catholic resources. It does not replace the teaching authority of the Church or formation provided by priests, catechists, and CFD leaders.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to Support Our Educators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3040" y="2468880"/>
            <a:ext cx="45720" cy="1554480"/>
          </a:xfrm>
          <a:prstGeom prst="rect">
            <a:avLst/>
          </a:prstGeom>
          <a:solidFill>
            <a:srgbClr val="F2D21F"/>
          </a:solidFill>
          <a:ln/>
        </p:spPr>
      </p:sp>
      <p:sp>
        <p:nvSpPr>
          <p:cNvPr id="4" name="Text 2"/>
          <p:cNvSpPr/>
          <p:nvPr/>
        </p:nvSpPr>
        <p:spPr>
          <a:xfrm>
            <a:off x="1691640" y="2468880"/>
            <a:ext cx="8778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E7E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gives our educators a focused way to bring good, guided content to CFD members — a new way of teaching, not a replacement for it.
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E7E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gives us something we've never had: a simple, data-driven way to see how well members are actually learning.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84248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would now like to open the floor for questions, recommendations, and guidance from the Board."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iCFD · Board of Governors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2026-08-30T07:37:35Z</dcterms:created>
  <dcterms:modified xsi:type="dcterms:W3CDTF">2026-08-30T07:37:35Z</dcterms:modified>
</cp:coreProperties>
</file>